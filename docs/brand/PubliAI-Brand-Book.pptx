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1.png"/><Relationship Id="rId7" Type="http://schemas.openxmlformats.org/officeDocument/2006/relationships/image" Target="../media/image-4-1.png"/><Relationship Id="rId8" Type="http://schemas.openxmlformats.org/officeDocument/2006/relationships/image" Target="../media/image-4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ego/.claude/jobs/9206de8c/tmp/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1005840" cy="164592"/>
          </a:xfrm>
          <a:prstGeom prst="rect">
            <a:avLst/>
          </a:prstGeom>
        </p:spPr>
      </p:pic>
      <p:pic>
        <p:nvPicPr>
          <p:cNvPr id="3" name="Image 1" descr="/Users/diego/Desktop/IA/Anuncios MktPlace/docs/brand/PubliAI-Brand/PNG/horizontal/full-dark-@3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3257550" cy="868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3200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Brand Book</a:t>
            </a:r>
            <a:endParaRPr lang="en-US" sz="5400" dirty="0"/>
          </a:p>
        </p:txBody>
      </p:sp>
      <p:sp>
        <p:nvSpPr>
          <p:cNvPr id="5" name="Text 1"/>
          <p:cNvSpPr/>
          <p:nvPr/>
        </p:nvSpPr>
        <p:spPr>
          <a:xfrm>
            <a:off x="822960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Identidade visual oficial — a plataforma de comando para operações de marketplace.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37C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Versão 1.0</a:t>
            </a:r>
            <a:pPr indent="0" marL="0">
              <a:buNone/>
            </a:pPr>
            <a:r>
              <a:rPr lang="en-US" sz="12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·   Conceito 3 · Marketplace Command Center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ego/.claude/jobs/9206de8c/tmp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502920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CONTEÚDO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07899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Sumário</a:t>
            </a:r>
            <a:endParaRPr lang="en-US" sz="3200" dirty="0"/>
          </a:p>
        </p:txBody>
      </p:sp>
      <p:pic>
        <p:nvPicPr>
          <p:cNvPr id="5" name="Image 1" descr="/Users/diego/Desktop/IA/Anuncios MktPlace/docs/brand/PubliAI-Brand/PNG/simbolo/mono-white-@3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37744" cy="237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PubliAI · Brand Book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094415" y="6272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92024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22960" y="1920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01  Essência da marca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429000" y="192024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611880" y="1920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02  Posicionamento &amp; headline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17920" y="192024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400800" y="1920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03  Sistema de logos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006840" y="192024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189720" y="1920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04  Versões &amp; fundos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2999232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22960" y="299923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05  Respiro &amp; mínimos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3429000" y="2999232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3611880" y="299923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06  Usos proibidos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217920" y="2999232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400800" y="299923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07  Paleta — marca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9006840" y="2999232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9189720" y="299923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08  Paleta — neutros &amp; estados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40080" y="4078224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822960" y="4078224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09  Gradiente de marca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3429000" y="4078224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3611880" y="4078224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  Acessibilidade (AA)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217920" y="4078224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6400800" y="4078224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11  Tipografia Geist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9006840" y="4078224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9189720" y="4078224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12  Iconografia &amp; ilustração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40080" y="5157216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822960" y="5157216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13  Tom de voz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3429000" y="5157216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Text 31"/>
          <p:cNvSpPr/>
          <p:nvPr/>
        </p:nvSpPr>
        <p:spPr>
          <a:xfrm>
            <a:off x="3611880" y="5157216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14  Componentes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6217920" y="5157216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Text 33"/>
          <p:cNvSpPr/>
          <p:nvPr/>
        </p:nvSpPr>
        <p:spPr>
          <a:xfrm>
            <a:off x="6400800" y="5157216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15  Aplicações</a:t>
            </a:r>
            <a:endParaRPr lang="en-US" sz="1250" dirty="0"/>
          </a:p>
        </p:txBody>
      </p:sp>
      <p:sp>
        <p:nvSpPr>
          <p:cNvPr id="38" name="Shape 34"/>
          <p:cNvSpPr/>
          <p:nvPr/>
        </p:nvSpPr>
        <p:spPr>
          <a:xfrm>
            <a:off x="9006840" y="5157216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Text 35"/>
          <p:cNvSpPr/>
          <p:nvPr/>
        </p:nvSpPr>
        <p:spPr>
          <a:xfrm>
            <a:off x="9189720" y="5157216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16  Checklists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ego/.claude/jobs/9206de8c/tmp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502920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QUEM SOMOS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07899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Essência da marca</a:t>
            </a:r>
            <a:endParaRPr lang="en-US" sz="3200" dirty="0"/>
          </a:p>
        </p:txBody>
      </p:sp>
      <p:pic>
        <p:nvPicPr>
          <p:cNvPr id="5" name="Image 1" descr="/Users/diego/Desktop/IA/Anuncios MktPlace/docs/brand/PubliAI-Brand/PNG/simbolo/mono-white-@3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37744" cy="237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PubliAI · Brand Book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094415" y="6272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40080" y="1920240"/>
            <a:ext cx="6035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PubliAI é a camada de automação que transforma planilhas e fotos em anúncios publicados nos marketplaces — com IA e revisão humana.</a:t>
            </a:r>
            <a:endParaRPr lang="en-US" sz="17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Não vendemos “IA”. Vendemos controle: sua operação inteira de marketplace, do cadastro à publicação, em um só lugar.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Hoje no Mercado Livre; evoluindo para multicanal (Shopee, Amazon, Magalu, Shein).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040880" y="192024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242048" y="2121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Confiável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242048" y="2578608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operação que aguenta escala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9601200" y="192024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9802368" y="2121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Técnico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9802368" y="2578608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premium, sem ruído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040880" y="347472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242048" y="3675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Ágil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242048" y="4133088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menos trabalho manual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9601200" y="347472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9802368" y="3675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Inteligente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9802368" y="4133088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IA aplicada ao resultado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ego/.claude/jobs/9206de8c/tmp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502920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POSICIONAMENTO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07899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Marketplace Command Center</a:t>
            </a:r>
            <a:endParaRPr lang="en-US" sz="3200" dirty="0"/>
          </a:p>
        </p:txBody>
      </p:sp>
      <p:pic>
        <p:nvPicPr>
          <p:cNvPr id="5" name="Image 1" descr="/Users/diego/Desktop/IA/Anuncios MktPlace/docs/brand/PubliAI-Brand/PNG/simbolo/mono-white-@3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37744" cy="237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PubliAI · Brand Book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094415" y="6272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783080"/>
            <a:ext cx="10927080" cy="1188720"/>
          </a:xfrm>
          <a:prstGeom prst="roundRect">
            <a:avLst>
              <a:gd name="adj" fmla="val 7692"/>
            </a:avLst>
          </a:prstGeom>
          <a:solidFill>
            <a:srgbClr val="1C1E28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914400" y="17830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“Da planilha ao anúncio publicado. Sem trabalho manual.”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0080" y="32004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9BA8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BIBLIOTECA DE HEADLINES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356616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/Users/diego/.claude/jobs/9206de8c/tmp/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40480"/>
            <a:ext cx="109728" cy="1097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356616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Sua operação de marketplace, automatizada do início ao fim.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172200" y="356616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3" descr="/Users/diego/.claude/jobs/9206de8c/tmp/gr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840480"/>
            <a:ext cx="109728" cy="10972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83680" y="356616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Publique centenas de anúncios em minutos, mantendo o controle.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40080" y="4352544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4" descr="/Users/diego/.claude/jobs/9206de8c/tmp/gr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626864"/>
            <a:ext cx="109728" cy="10972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51560" y="43525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Menos tarefas repetitivas. Mais tempo para vender.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172200" y="4352544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5" descr="/Users/diego/.claude/jobs/9206de8c/tmp/gra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4626864"/>
            <a:ext cx="109728" cy="1097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583680" y="43525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Uma plataforma. Todos os marketplaces. Total controle.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640080" y="5138928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6" descr="/Users/diego/.claude/jobs/9206de8c/tmp/gra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413248"/>
            <a:ext cx="109728" cy="10972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51560" y="513892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Escala multicanal sem aumentar a equipe.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6172200" y="5138928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7" name="Image 7" descr="/Users/diego/.claude/jobs/9206de8c/tmp/gra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5413248"/>
            <a:ext cx="109728" cy="10972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583680" y="513892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Automação especializada para quem vende em marketplaces.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ego/.claude/jobs/9206de8c/tmp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502920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LOGO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07899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Sistema de logos</a:t>
            </a:r>
            <a:endParaRPr lang="en-US" sz="3200" dirty="0"/>
          </a:p>
        </p:txBody>
      </p:sp>
      <p:pic>
        <p:nvPicPr>
          <p:cNvPr id="5" name="Image 1" descr="/Users/diego/Desktop/IA/Anuncios MktPlace/docs/brand/PubliAI-Brand/PNG/simbolo/mono-white-@3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37744" cy="237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PubliAI · Brand Book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094415" y="6272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96596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2" descr="/Users/diego/Desktop/IA/Anuncios MktPlace/docs/brand/PubliAI-Brand/PNG/horizontal/full-dark-@3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200400"/>
            <a:ext cx="2674620" cy="7132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4389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Horizontal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914400" y="4754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uso principal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325112" y="196596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3" descr="/Users/diego/Desktop/IA/Anuncios MktPlace/docs/brand/PubliAI-Brand/PNG/empilhado/full-dark-@3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92" y="2606040"/>
            <a:ext cx="1371600" cy="11911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99432" y="4389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Empilhado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4599432" y="4754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espaços verticais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8010144" y="196596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4" descr="/Users/diego/Desktop/IA/Anuncios MktPlace/docs/brand/PubliAI-Brand/PNG/simbolo/full-dark-@3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024" y="2743200"/>
            <a:ext cx="914400" cy="9144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84464" y="4389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Símbolo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8284464" y="4754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favicon / app / avatar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ego/.claude/jobs/9206de8c/tmp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502920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LOGO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07899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Versões &amp; fundos</a:t>
            </a:r>
            <a:endParaRPr lang="en-US" sz="3200" dirty="0"/>
          </a:p>
        </p:txBody>
      </p:sp>
      <p:pic>
        <p:nvPicPr>
          <p:cNvPr id="5" name="Image 1" descr="/Users/diego/Desktop/IA/Anuncios MktPlace/docs/brand/PubliAI-Brand/PNG/simbolo/mono-white-@3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37744" cy="237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PubliAI · Brand Book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094415" y="6272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9659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08090E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2" descr="/Users/diego/Desktop/IA/Anuncios MktPlace/docs/brand/PubliAI-Brand/PNG/horizontal/full-dark-@3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532888"/>
            <a:ext cx="2674620" cy="7132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33832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Full color · fundo escuro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6199632" y="19659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BFCFF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3" descr="/Users/diego/Desktop/IA/Anuncios MktPlace/docs/brand/PubliAI-Brand/PNG/horizontal/full-light-@3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2532888"/>
            <a:ext cx="2674620" cy="7132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28232" y="33832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C6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Full color · fundo claro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640080" y="4005072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08090E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4" descr="/Users/diego/Desktop/IA/Anuncios MktPlace/docs/brand/PubliAI-Brand/PNG/horizontal/mono-white-@3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4572000"/>
            <a:ext cx="2674620" cy="7132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8680" y="542239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Monocromática branca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6199632" y="4005072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BFCFF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5" descr="/Users/diego/Desktop/IA/Anuncios MktPlace/docs/brand/PubliAI-Brand/PNG/horizontal/mono-black-@3x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592" y="4572000"/>
            <a:ext cx="2674620" cy="7132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428232" y="542239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Monocromática preta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ego/.claude/jobs/9206de8c/tmp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502920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LOGO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07899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Área de respiro &amp; tamanho mínimo</a:t>
            </a:r>
            <a:endParaRPr lang="en-US" sz="3200" dirty="0"/>
          </a:p>
        </p:txBody>
      </p:sp>
      <p:pic>
        <p:nvPicPr>
          <p:cNvPr id="5" name="Image 1" descr="/Users/diego/Desktop/IA/Anuncios MktPlace/docs/brand/PubliAI-Brand/PNG/simbolo/mono-white-@3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37744" cy="237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PubliAI · Brand Book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094415" y="6272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965960"/>
            <a:ext cx="5760720" cy="3657600"/>
          </a:xfrm>
          <a:prstGeom prst="roundRect">
            <a:avLst>
              <a:gd name="adj" fmla="val 25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Área de respiro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68680" y="25146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Margem mínima = “x”, onde x é a espessura da barra central do símbolo.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1371600" y="3291840"/>
            <a:ext cx="4206240" cy="1828800"/>
          </a:xfrm>
          <a:prstGeom prst="rect">
            <a:avLst/>
          </a:prstGeom>
          <a:solidFill>
            <a:srgbClr val="1C1E28"/>
          </a:solidFill>
          <a:ln w="12700">
            <a:solidFill>
              <a:srgbClr val="5A5CE2"/>
            </a:solidFill>
            <a:prstDash val="dash"/>
          </a:ln>
        </p:spPr>
      </p:sp>
      <p:pic>
        <p:nvPicPr>
          <p:cNvPr id="12" name="Image 2" descr="/Users/diego/Desktop/IA/Anuncios MktPlace/docs/brand/PubliAI-Brand/PNG/horizontal/full-dark-@3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3840480"/>
            <a:ext cx="2674620" cy="71323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583680" y="1965960"/>
            <a:ext cx="4983480" cy="3657600"/>
          </a:xfrm>
          <a:prstGeom prst="roundRect">
            <a:avLst>
              <a:gd name="adj" fmla="val 25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81228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Tamanho mínimo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812280" y="2697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Símbolo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81228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16 px digital · 5 mm impressão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81228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Lockup horizontal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81228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120 px digital · 30 mm impressão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812280" y="4526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Lockup empilhado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81228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80 px digital · 20 mm impressão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ego/.claude/jobs/9206de8c/tmp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502920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LOGO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07899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Usos proibidos</a:t>
            </a:r>
            <a:endParaRPr lang="en-US" sz="3200" dirty="0"/>
          </a:p>
        </p:txBody>
      </p:sp>
      <p:pic>
        <p:nvPicPr>
          <p:cNvPr id="5" name="Image 1" descr="/Users/diego/Desktop/IA/Anuncios MktPlace/docs/brand/PubliAI-Brand/PNG/simbolo/mono-white-@3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37744" cy="237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PubliAI · Brand Book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094415" y="6272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96596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68680" y="2194560"/>
            <a:ext cx="457200" cy="457200"/>
          </a:xfrm>
          <a:prstGeom prst="ellipse">
            <a:avLst/>
          </a:prstGeom>
          <a:solidFill>
            <a:srgbClr val="2A1620"/>
          </a:solidFill>
          <a:ln w="12700">
            <a:solidFill>
              <a:srgbClr val="E2496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86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496A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68680" y="2788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Alterar as cores do gradiente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25112" y="196596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53712" y="2194560"/>
            <a:ext cx="457200" cy="457200"/>
          </a:xfrm>
          <a:prstGeom prst="ellipse">
            <a:avLst/>
          </a:prstGeom>
          <a:solidFill>
            <a:srgbClr val="2A1620"/>
          </a:solidFill>
          <a:ln w="12700">
            <a:solidFill>
              <a:srgbClr val="E2496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53712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496A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53712" y="2788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Distorcer ou esticar as proporções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10144" y="196596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38744" y="2194560"/>
            <a:ext cx="457200" cy="457200"/>
          </a:xfrm>
          <a:prstGeom prst="ellipse">
            <a:avLst/>
          </a:prstGeom>
          <a:solidFill>
            <a:srgbClr val="2A1620"/>
          </a:solidFill>
          <a:ln w="12700">
            <a:solidFill>
              <a:srgbClr val="E2496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238744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496A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238744" y="2788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Rotacionar o símbolo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40080" y="3822192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68680" y="4050792"/>
            <a:ext cx="457200" cy="457200"/>
          </a:xfrm>
          <a:prstGeom prst="ellipse">
            <a:avLst/>
          </a:prstGeom>
          <a:solidFill>
            <a:srgbClr val="2A1620"/>
          </a:solidFill>
          <a:ln w="12700">
            <a:solidFill>
              <a:srgbClr val="E2496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496A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868680" y="464515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Aplicar sombra, contorno ou efeito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4325112" y="3822192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553712" y="4050792"/>
            <a:ext cx="457200" cy="457200"/>
          </a:xfrm>
          <a:prstGeom prst="ellipse">
            <a:avLst/>
          </a:prstGeom>
          <a:solidFill>
            <a:srgbClr val="2A1620"/>
          </a:solidFill>
          <a:ln w="12700">
            <a:solidFill>
              <a:srgbClr val="E2496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53712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496A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✕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4553712" y="464515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Trocar a tipografia do wordmark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8010144" y="3822192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238744" y="4050792"/>
            <a:ext cx="457200" cy="457200"/>
          </a:xfrm>
          <a:prstGeom prst="ellipse">
            <a:avLst/>
          </a:prstGeom>
          <a:solidFill>
            <a:srgbClr val="2A1620"/>
          </a:solidFill>
          <a:ln w="12700">
            <a:solidFill>
              <a:srgbClr val="E2496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238744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496A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✕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8238744" y="464515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Usar sobre fundo de baixo contraste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ego/.claude/jobs/9206de8c/tmp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502920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CORES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07899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Paleta — marca</a:t>
            </a:r>
            <a:endParaRPr lang="en-US" sz="3200" dirty="0"/>
          </a:p>
        </p:txBody>
      </p:sp>
      <p:pic>
        <p:nvPicPr>
          <p:cNvPr id="5" name="Image 1" descr="/Users/diego/Desktop/IA/Anuncios MktPlace/docs/brand/PubliAI-Brand/PNG/simbolo/mono-white-@3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37744" cy="237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PubliAI · Brand Book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094415" y="6272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9659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68680" y="219456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5A5CE2"/>
          </a:solidFill>
          <a:ln/>
        </p:spPr>
      </p:sp>
      <p:sp>
        <p:nvSpPr>
          <p:cNvPr id="10" name="Text 6"/>
          <p:cNvSpPr/>
          <p:nvPr/>
        </p:nvSpPr>
        <p:spPr>
          <a:xfrm>
            <a:off x="896112" y="37033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Indigo primário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96112" y="40507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#5A5CE2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96112" y="43251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oklch(0.55 0.20 277)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383280" y="19659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11880" y="219456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737CF7"/>
          </a:solidFill>
          <a:ln/>
        </p:spPr>
      </p:sp>
      <p:sp>
        <p:nvSpPr>
          <p:cNvPr id="15" name="Text 11"/>
          <p:cNvSpPr/>
          <p:nvPr/>
        </p:nvSpPr>
        <p:spPr>
          <a:xfrm>
            <a:off x="3639312" y="37033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Indigo claro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39312" y="40507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#737CF7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639312" y="43251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oklch(0.64 0.18 277)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26480" y="19659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55080" y="219456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9152E3"/>
          </a:solidFill>
          <a:ln/>
        </p:spPr>
      </p:sp>
      <p:sp>
        <p:nvSpPr>
          <p:cNvPr id="20" name="Text 16"/>
          <p:cNvSpPr/>
          <p:nvPr/>
        </p:nvSpPr>
        <p:spPr>
          <a:xfrm>
            <a:off x="6382512" y="37033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Violeta de apoio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382512" y="40507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#9152E3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382512" y="43251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oklch(0.585 0.21 300)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8869680" y="19659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2" descr="/Users/diego/.claude/jobs/9206de8c/tmp/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194560"/>
            <a:ext cx="2148840" cy="1371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125712" y="37033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Gradiente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9125712" y="40507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135°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9125712" y="43251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#5C5CEB → #9152E3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ego/.claude/jobs/9206de8c/tmp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502920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CORES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07899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Neutros &amp; estados</a:t>
            </a:r>
            <a:endParaRPr lang="en-US" sz="3200" dirty="0"/>
          </a:p>
        </p:txBody>
      </p:sp>
      <p:pic>
        <p:nvPicPr>
          <p:cNvPr id="5" name="Image 1" descr="/Users/diego/Desktop/IA/Anuncios MktPlace/docs/brand/PubliAI-Brand/PNG/simbolo/mono-white-@3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37744" cy="237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PubliAI · Brand Book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094415" y="6272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4008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9BA8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NEUTROS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40080" y="224028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08090E"/>
          </a:solidFill>
          <a:ln w="15875">
            <a:solidFill>
              <a:srgbClr val="3C3F4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3200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Fundo escuro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" y="34564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#08090E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880360" y="224028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23252D"/>
          </a:solidFill>
          <a:ln w="15875">
            <a:solidFill>
              <a:srgbClr val="3C3F4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880360" y="3200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Card escuro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880360" y="34564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#23252D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120640" y="224028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BFCFF"/>
          </a:solidFill>
          <a:ln w="15875">
            <a:solidFill>
              <a:srgbClr val="3C3F4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120640" y="3200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Fundo claro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120640" y="34564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#FBFCFF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360920" y="224028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1F1F5"/>
          </a:solidFill>
          <a:ln w="15875">
            <a:solidFill>
              <a:srgbClr val="3C3F4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360920" y="3200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Texto claro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360920" y="34564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#F1F1F5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9601200" y="224028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161822"/>
          </a:solidFill>
          <a:ln w="15875">
            <a:solidFill>
              <a:srgbClr val="3C3F4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601200" y="3200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Texto escuro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9601200" y="34564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#161822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4008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9BA8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ESTADOS  ·  somente status, nunca decoração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40080" y="434340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007C32"/>
          </a:solidFill>
          <a:ln/>
        </p:spPr>
      </p:sp>
      <p:sp>
        <p:nvSpPr>
          <p:cNvPr id="26" name="Text 22"/>
          <p:cNvSpPr/>
          <p:nvPr/>
        </p:nvSpPr>
        <p:spPr>
          <a:xfrm>
            <a:off x="822960" y="4343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Sucesso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822960" y="4892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#007C32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429000" y="434340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9F5900"/>
          </a:solidFill>
          <a:ln/>
        </p:spPr>
      </p:sp>
      <p:sp>
        <p:nvSpPr>
          <p:cNvPr id="29" name="Text 25"/>
          <p:cNvSpPr/>
          <p:nvPr/>
        </p:nvSpPr>
        <p:spPr>
          <a:xfrm>
            <a:off x="3611880" y="4343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Atenção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3611880" y="4892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#9F5900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217920" y="434340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0070B0"/>
          </a:solidFill>
          <a:ln/>
        </p:spPr>
      </p:sp>
      <p:sp>
        <p:nvSpPr>
          <p:cNvPr id="32" name="Text 28"/>
          <p:cNvSpPr/>
          <p:nvPr/>
        </p:nvSpPr>
        <p:spPr>
          <a:xfrm>
            <a:off x="6400800" y="4343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Info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6400800" y="4892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#0070B0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9006840" y="434340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D20322"/>
          </a:solidFill>
          <a:ln/>
        </p:spPr>
      </p:sp>
      <p:sp>
        <p:nvSpPr>
          <p:cNvPr id="35" name="Text 31"/>
          <p:cNvSpPr/>
          <p:nvPr/>
        </p:nvSpPr>
        <p:spPr>
          <a:xfrm>
            <a:off x="9189720" y="4343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Erro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9189720" y="4892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#D20322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ego/.claude/jobs/9206de8c/tmp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502920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CORES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07899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Gradiente de marca</a:t>
            </a:r>
            <a:endParaRPr lang="en-US" sz="3200" dirty="0"/>
          </a:p>
        </p:txBody>
      </p:sp>
      <p:pic>
        <p:nvPicPr>
          <p:cNvPr id="5" name="Image 1" descr="/Users/diego/Desktop/IA/Anuncios MktPlace/docs/brand/PubliAI-Brand/PNG/simbolo/mono-white-@3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37744" cy="237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PubliAI · Brand Book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094415" y="6272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10</a:t>
            </a:r>
            <a:endParaRPr lang="en-US" sz="900" dirty="0"/>
          </a:p>
        </p:txBody>
      </p:sp>
      <p:pic>
        <p:nvPicPr>
          <p:cNvPr id="8" name="Image 2" descr="/Users/diego/.claude/jobs/9206de8c/tmp/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10927080" cy="12344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0080" y="324612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linear-gradient(135°, #5C5CEB → #9152E3)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640080" y="374904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86868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B061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Usar em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914400" y="43891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Hero e capas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CTA principal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Destaques premium / KPIs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Símbolo da logo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217920" y="374904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44652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496A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Evitar em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92240" y="43891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Fundo de página inteiro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Atrás de texto corrido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Cards / superfícies amplas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Misturado com outras cores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ego/.claude/jobs/9206de8c/tmp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502920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CORES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07899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Acessibilidade (AA)</a:t>
            </a:r>
            <a:endParaRPr lang="en-US" sz="3200" dirty="0"/>
          </a:p>
        </p:txBody>
      </p:sp>
      <p:pic>
        <p:nvPicPr>
          <p:cNvPr id="5" name="Image 1" descr="/Users/diego/Desktop/IA/Anuncios MktPlace/docs/brand/PubliAI-Brand/PNG/simbolo/mono-white-@3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37744" cy="237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PubliAI · Brand Book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094415" y="6272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4008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Combinações aprovadas para texto — contraste mínimo AA.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0080" y="237744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08090E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14400" y="26060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PubliAI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914400" y="33375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Texto claro sobre fundo escuro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99632" y="237744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BFCFF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73952" y="26060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822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PubliAI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6473952" y="33375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2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Texto escuro sobre fundo claro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4096512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5A5CE2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14400" y="432511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PubliAI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914400" y="50566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Branco sobre indigo (botão)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99632" y="4096512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23252D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73952" y="432511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PubliAI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6473952" y="50566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Texto claro sobre card escuro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ego/.claude/jobs/9206de8c/tmp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502920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TIPOGRAFIA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07899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Geist</a:t>
            </a:r>
            <a:endParaRPr lang="en-US" sz="3200" dirty="0"/>
          </a:p>
        </p:txBody>
      </p:sp>
      <p:pic>
        <p:nvPicPr>
          <p:cNvPr id="5" name="Image 1" descr="/Users/diego/Desktop/IA/Anuncios MktPlace/docs/brand/PubliAI-Brand/PNG/simbolo/mono-white-@3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37744" cy="237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PubliAI · Brand Book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094415" y="6272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920240"/>
            <a:ext cx="3108960" cy="3703320"/>
          </a:xfrm>
          <a:prstGeom prst="roundRect">
            <a:avLst>
              <a:gd name="adj" fmla="val 2941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Aa</a:t>
            </a:r>
            <a:endParaRPr lang="en-US" sz="8000" dirty="0"/>
          </a:p>
        </p:txBody>
      </p:sp>
      <p:sp>
        <p:nvSpPr>
          <p:cNvPr id="10" name="Text 6"/>
          <p:cNvSpPr/>
          <p:nvPr/>
        </p:nvSpPr>
        <p:spPr>
          <a:xfrm>
            <a:off x="86868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Geist Variable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68680" y="4069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Google Fonts · fontsource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Títulos 600 · texto 400–500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tracking −0.01 a −0.02em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023360" y="1965960"/>
            <a:ext cx="7498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Display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9692640" y="1965960"/>
            <a:ext cx="19202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34pt · Hero (raro)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023360" y="2971800"/>
            <a:ext cx="7498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H1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9692640" y="2971800"/>
            <a:ext cx="1920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26pt · Título de página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023360" y="3831336"/>
            <a:ext cx="7498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H2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9692640" y="3831336"/>
            <a:ext cx="1920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21pt · Seção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023360" y="4599432"/>
            <a:ext cx="7498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H3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9692640" y="4599432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17pt · Card / grupo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023360" y="5294376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Body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9692640" y="5294376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14pt · Texto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023360" y="5934456"/>
            <a:ext cx="7498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Caption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9692640" y="5934456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11pt · Metadados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ego/.claude/jobs/9206de8c/tmp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502920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LINGUAGEM VISUAL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07899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Iconografia &amp; ilustração</a:t>
            </a:r>
            <a:endParaRPr lang="en-US" sz="3200" dirty="0"/>
          </a:p>
        </p:txBody>
      </p:sp>
      <p:pic>
        <p:nvPicPr>
          <p:cNvPr id="5" name="Image 1" descr="/Users/diego/Desktop/IA/Anuncios MktPlace/docs/brand/PubliAI-Brand/PNG/simbolo/mono-white-@3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37744" cy="237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PubliAI · Brand Book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094415" y="6272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96596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Iconografia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14400" y="265176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Biblioteca Lucide (outline)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Traço 2 px, espessura uniforme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Cantos arredondados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Grid 24 px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Representam produto/fluxo, nunca “IA”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63640" y="196596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9224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Ilustração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6517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Minimalista e geométrica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Baseada em grids, blocos e conexões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Poucas cores, muito espaço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Sem 3D exagerado, cartoon ou isométrico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 produto (UI) é o protagonista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ego/.claude/jobs/9206de8c/tmp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502920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COMUNICAÇÃO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07899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Tom de voz</a:t>
            </a:r>
            <a:endParaRPr lang="en-US" sz="3200" dirty="0"/>
          </a:p>
        </p:txBody>
      </p:sp>
      <p:pic>
        <p:nvPicPr>
          <p:cNvPr id="5" name="Image 1" descr="/Users/diego/Desktop/IA/Anuncios MktPlace/docs/brand/PubliAI-Brand/PNG/simbolo/mono-white-@3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37744" cy="237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PubliAI · Brand Book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094415" y="6272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965960"/>
            <a:ext cx="5349240" cy="2377440"/>
          </a:xfrm>
          <a:prstGeom prst="roundRect">
            <a:avLst>
              <a:gd name="adj" fmla="val 3846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B061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Somos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14400" y="26517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Confiança operacional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Clareza e objetividade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Competência técnica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Foco em resultado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17920" y="1965960"/>
            <a:ext cx="5349240" cy="2377440"/>
          </a:xfrm>
          <a:prstGeom prst="roundRect">
            <a:avLst>
              <a:gd name="adj" fmla="val 3846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4652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496A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Não somos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26517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“Revolucionário” / “mágico”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“O futuro da IA”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Hype vazio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Jargão sem sentido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572000"/>
            <a:ext cx="10927080" cy="1051560"/>
          </a:xfrm>
          <a:prstGeom prst="roundRect">
            <a:avLst>
              <a:gd name="adj" fmla="val 8696"/>
            </a:avLst>
          </a:prstGeom>
          <a:solidFill>
            <a:srgbClr val="1C1E28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14400" y="45720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Soa como uma ferramenta profissional que resolve problemas reais — não como um anúncio de tecnologia.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ego/.claude/jobs/9206de8c/tmp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502920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UI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07899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Componentes</a:t>
            </a:r>
            <a:endParaRPr lang="en-US" sz="3200" dirty="0"/>
          </a:p>
        </p:txBody>
      </p:sp>
      <p:pic>
        <p:nvPicPr>
          <p:cNvPr id="5" name="Image 1" descr="/Users/diego/Desktop/IA/Anuncios MktPlace/docs/brand/PubliAI-Brand/PNG/simbolo/mono-white-@3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37744" cy="237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PubliAI · Brand Book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094415" y="6272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96596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BA8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Botões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68680" y="25146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5A5CE2"/>
          </a:solidFill>
          <a:ln/>
        </p:spPr>
      </p:sp>
      <p:sp>
        <p:nvSpPr>
          <p:cNvPr id="11" name="Text 7"/>
          <p:cNvSpPr/>
          <p:nvPr/>
        </p:nvSpPr>
        <p:spPr>
          <a:xfrm>
            <a:off x="86868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Primário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743200" y="25146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C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Secundário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6868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BA8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Status pills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68680" y="36576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2BB061">
              <a:alpha val="18000"/>
            </a:srgbClr>
          </a:solidFill>
          <a:ln w="12700">
            <a:solidFill>
              <a:srgbClr val="2BB06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68680" y="3657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B06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Publicado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788920" y="36576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C98A1E">
              <a:alpha val="18000"/>
            </a:srgbClr>
          </a:solidFill>
          <a:ln w="12700">
            <a:solidFill>
              <a:srgbClr val="C98A1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788920" y="3657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8A1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Incompleto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68680" y="42519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2496A">
              <a:alpha val="18000"/>
            </a:srgbClr>
          </a:solidFill>
          <a:ln w="12700">
            <a:solidFill>
              <a:srgbClr val="E2496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68680" y="4251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496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Erro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2788920" y="42519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2E9BD6">
              <a:alpha val="18000"/>
            </a:srgbClr>
          </a:solidFill>
          <a:ln w="12700">
            <a:solidFill>
              <a:srgbClr val="2E9BD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788920" y="4251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9BD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Processando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263640" y="196596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49224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BA8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Princípios de UI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537960" y="256032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Cantos arredondados (raio ~10px; cards 14–18px)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Profundidade por elevação suave + glow indigo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Sombras leves, nunca pesadas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Tema dark base, com light mode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Densidade de dashboard: muita informação, sem ruído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ego/.claude/jobs/9206de8c/tmp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502920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NA PRÁTICA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07899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Aplicações</a:t>
            </a:r>
            <a:endParaRPr lang="en-US" sz="3200" dirty="0"/>
          </a:p>
        </p:txBody>
      </p:sp>
      <p:pic>
        <p:nvPicPr>
          <p:cNvPr id="5" name="Image 1" descr="/Users/diego/Desktop/IA/Anuncios MktPlace/docs/brand/PubliAI-Brand/PNG/simbolo/mono-white-@3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37744" cy="237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PubliAI · Brand Book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094415" y="6272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965960"/>
            <a:ext cx="7040880" cy="3657600"/>
          </a:xfrm>
          <a:prstGeom prst="roundRect">
            <a:avLst>
              <a:gd name="adj" fmla="val 25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2" descr="/Users/diego/.claude/jobs/9206de8c/tmp/app_dash.png">    </p:cNvPr>
          <p:cNvPicPr>
            <a:picLocks noChangeAspect="1"/>
          </p:cNvPicPr>
          <p:nvPr/>
        </p:nvPicPr>
        <p:blipFill>
          <a:blip r:embed="rId3"/>
          <a:srcRect l="-20728" r="-20728" t="0" b="0"/>
          <a:stretch/>
        </p:blipFill>
        <p:spPr>
          <a:xfrm>
            <a:off x="868680" y="2240280"/>
            <a:ext cx="6583680" cy="31089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5257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Dashboard (produto)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7863840" y="1965960"/>
            <a:ext cx="3703320" cy="3657600"/>
          </a:xfrm>
          <a:prstGeom prst="roundRect">
            <a:avLst>
              <a:gd name="adj" fmla="val 25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3" descr="/Users/diego/.claude/jobs/9206de8c/tmp/app_login.png">    </p:cNvPr>
          <p:cNvPicPr>
            <a:picLocks noChangeAspect="1"/>
          </p:cNvPicPr>
          <p:nvPr/>
        </p:nvPicPr>
        <p:blipFill>
          <a:blip r:embed="rId4"/>
          <a:srcRect l="-3895" r="-3895" t="0" b="0"/>
          <a:stretch/>
        </p:blipFill>
        <p:spPr>
          <a:xfrm>
            <a:off x="8092440" y="2240280"/>
            <a:ext cx="3246120" cy="20116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9244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Tela de login</a:t>
            </a:r>
            <a:endParaRPr lang="en-US" sz="1100" dirty="0"/>
          </a:p>
        </p:txBody>
      </p:sp>
      <p:pic>
        <p:nvPicPr>
          <p:cNvPr id="14" name="Image 4" descr="/Users/diego/Desktop/IA/Anuncios MktPlace/docs/brand/PubliAI-Brand/Icons/apple-touch-ic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754880"/>
            <a:ext cx="731520" cy="7315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961120" y="4983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Favicon / app icon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ego/.claude/jobs/9206de8c/tmp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502920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ANTES DE PUBLICAR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07899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Checklists</a:t>
            </a:r>
            <a:endParaRPr lang="en-US" sz="3200" dirty="0"/>
          </a:p>
        </p:txBody>
      </p:sp>
      <p:pic>
        <p:nvPicPr>
          <p:cNvPr id="5" name="Image 1" descr="/Users/diego/Desktop/IA/Anuncios MktPlace/docs/brand/PubliAI-Brand/PNG/simbolo/mono-white-@3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37744" cy="237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PubliAI · Brand Book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094415" y="6272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BA8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9659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Para designers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1440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B061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61872" y="26791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Usei a logo oficial (não recriei)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914400" y="3264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B061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261872" y="3246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Gradiente só em destaque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914400" y="3831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B061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261872" y="3813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Contraste AA conferido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914400" y="43982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B061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261872" y="43799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Geist em todos os textos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914400" y="4965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B061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261872" y="49469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Sem efeitos na logo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217920" y="19659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14151D"/>
          </a:solidFill>
          <a:ln w="12700">
            <a:solidFill>
              <a:srgbClr val="2A2C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44652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37CF7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Para devs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49224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B061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839712" y="26791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Cores via tokens (index.css)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492240" y="3264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B061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839712" y="3246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Componente &lt;Logo&gt;, não imagem solta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492240" y="3831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B061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6839712" y="3813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Favicon/manifest atualizados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6492240" y="43982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B061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6839712" y="43799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Dark + light validados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6492240" y="4965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B061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6839712" y="49469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Sem hex hardcoded fora dos tokens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ego/Desktop/IA/Anuncios MktPlace/docs/brand/PubliAI-Brand/PNG/simbolo/full-dark-@3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219456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3832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Da planilha ao anúncio publicado.</a:t>
            </a:r>
            <a:endParaRPr lang="en-US" sz="2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1F1F5"/>
                </a:solidFill>
                <a:latin typeface="Geist Display" pitchFamily="34" charset="0"/>
                <a:ea typeface="Geist Display" pitchFamily="34" charset="-122"/>
                <a:cs typeface="Geist Display" pitchFamily="34" charset="-120"/>
              </a:rPr>
              <a:t>Sem trabalho manual.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B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PubliAI · Brand Book v1.0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PubliAI — Brand Book</dc:title>
  <dc:subject>PptxGenJS Presentation</dc:subject>
  <dc:creator>PubliAI</dc:creator>
  <cp:lastModifiedBy>PubliAI</cp:lastModifiedBy>
  <cp:revision>1</cp:revision>
  <dcterms:created xsi:type="dcterms:W3CDTF">2026-06-28T12:23:40Z</dcterms:created>
  <dcterms:modified xsi:type="dcterms:W3CDTF">2026-06-28T12:23:40Z</dcterms:modified>
</cp:coreProperties>
</file>